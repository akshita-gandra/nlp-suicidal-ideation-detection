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Nunito"/>
      <p:regular r:id="rId21"/>
      <p:bold r:id="rId22"/>
      <p:italic r:id="rId23"/>
      <p:boldItalic r:id="rId24"/>
    </p:embeddedFont>
    <p:embeddedFont>
      <p:font typeface="Maven Pro"/>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Nunito-bold.fntdata"/><Relationship Id="rId21" Type="http://schemas.openxmlformats.org/officeDocument/2006/relationships/font" Target="fonts/Nunito-regular.fntdata"/><Relationship Id="rId24" Type="http://schemas.openxmlformats.org/officeDocument/2006/relationships/font" Target="fonts/Nunito-boldItalic.fntdata"/><Relationship Id="rId23" Type="http://schemas.openxmlformats.org/officeDocument/2006/relationships/font" Target="fonts/Nuni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avenPro-bold.fntdata"/><Relationship Id="rId25" Type="http://schemas.openxmlformats.org/officeDocument/2006/relationships/font" Target="fonts/MavenPr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1300"/>
              </a:spcAft>
              <a:buNone/>
            </a:pPr>
            <a:r>
              <a:rPr lang="en-US">
                <a:solidFill>
                  <a:schemeClr val="dk1"/>
                </a:solidFill>
              </a:rPr>
              <a:t>Hi everyone. I’m Akshita, and today I'll be discussing my work and paper on transformer-based models for detecting suicidal ideation in Reddit posts, with a specific focus on the performance of BERT, RoBERTa, and BERTweet architectures. This </a:t>
            </a:r>
            <a:r>
              <a:rPr lang="en-US">
                <a:solidFill>
                  <a:schemeClr val="dk1"/>
                </a:solidFill>
              </a:rPr>
              <a:t>topic</a:t>
            </a:r>
            <a:r>
              <a:rPr lang="en-US">
                <a:solidFill>
                  <a:schemeClr val="dk1"/>
                </a:solidFill>
              </a:rPr>
              <a:t> is personally interesting to me because I used to work in the medical field and mental health space and I studied Computational Cognitive Science, would love to work in the space again someday combining everything in my background </a:t>
            </a:r>
            <a:endParaRPr/>
          </a:p>
        </p:txBody>
      </p:sp>
      <p:sp>
        <p:nvSpPr>
          <p:cNvPr id="281" name="Google Shape;281;p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1300"/>
              </a:spcAft>
              <a:buNone/>
            </a:pPr>
            <a:r>
              <a:rPr lang="en-US">
                <a:solidFill>
                  <a:schemeClr val="dk1"/>
                </a:solidFill>
              </a:rPr>
              <a:t>Suicide remains one of the top ten causes of death globally, but traditional detection methods are poorly equipped to identify nuanced expressions of distress, particularly on anonymous platforms like Reddit where users often communicate intent through coded language, metaphor, or sarcasm. I wanted to investigate whether transformer architectures could effectively detect subtle signals to help potentially augment behavior tracking by mental health professionals. I was also looking beyond raw accuracy metrics to explore interpretability constraints, fairness considerations, and real-world clinical utility. This matters because false negatives could miss life-threatening situations, while false positives could unnecessarily stigmatize users.</a:t>
            </a:r>
            <a:br>
              <a:rPr lang="en-US">
                <a:solidFill>
                  <a:schemeClr val="dk1"/>
                </a:solidFill>
              </a:rPr>
            </a:br>
            <a:br>
              <a:rPr lang="en-US">
                <a:solidFill>
                  <a:schemeClr val="dk1"/>
                </a:solidFill>
              </a:rPr>
            </a:br>
            <a:endParaRPr>
              <a:solidFill>
                <a:schemeClr val="dk1"/>
              </a:solidFill>
            </a:endParaRPr>
          </a:p>
        </p:txBody>
      </p:sp>
      <p:sp>
        <p:nvSpPr>
          <p:cNvPr id="287" name="Google Shape;287;p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0"/>
              </a:spcAft>
              <a:buNone/>
            </a:pPr>
            <a:r>
              <a:rPr lang="en-US"/>
              <a:t>The Kaggle dataset I found c</a:t>
            </a:r>
            <a:r>
              <a:rPr lang="en-US"/>
              <a:t>onsisted of over 232,000 Reddit posts labeled based on their subreddit origin, which is a noisy but reasonable labeling approach that mimics real-world behavior. I maintained strict class balance throughout all experimental splits to ensure fair comparison. Beyond implementation with HuggingFace and PyTorch, I incorporated SHAP analysis and attention visualization to provide more insight into model decision-making. This dual approach was critical for understanding when and why models failed on edge cases like metaphorical expressions of distress.</a:t>
            </a:r>
            <a:endParaRPr/>
          </a:p>
          <a:p>
            <a:pPr indent="0" lvl="0" marL="0" marR="381000" rtl="0" algn="l">
              <a:lnSpc>
                <a:spcPct val="115000"/>
              </a:lnSpc>
              <a:spcBef>
                <a:spcPts val="1300"/>
              </a:spcBef>
              <a:spcAft>
                <a:spcPts val="0"/>
              </a:spcAft>
              <a:buClr>
                <a:schemeClr val="dk1"/>
              </a:buClr>
              <a:buSzPts val="1100"/>
              <a:buFont typeface="Arial"/>
              <a:buNone/>
            </a:pPr>
            <a:r>
              <a:rPr lang="en-US"/>
              <a:t>Prior work on suicidal ideation detection has focused on applying traditional classifiers or fine-tuned BERT models to annotated Reddit or Twitter datasets (Ji et al., 2021; Qin &amp; Lu, 2023). Some studies have used attention weights or SHAP to highlight influential words, but typically in settings with clean labels and explicit expressions of risk (Ashraf et al., 2023; Sharma &amp; Chaturvedi, 2024). My work builds on this by testing transformer models under noisy, real-world subreddit-derived labels and analyzing how they behave when ideation is metaphorical, subtle, or ambiguous.</a:t>
            </a:r>
            <a:endParaRPr/>
          </a:p>
          <a:p>
            <a:pPr indent="0" lvl="0" marL="0" rtl="0" algn="l">
              <a:lnSpc>
                <a:spcPct val="115000"/>
              </a:lnSpc>
              <a:spcBef>
                <a:spcPts val="1300"/>
              </a:spcBef>
              <a:spcAft>
                <a:spcPts val="1300"/>
              </a:spcAft>
              <a:buNone/>
            </a:pPr>
            <a:r>
              <a:t/>
            </a:r>
            <a:endParaRPr/>
          </a:p>
        </p:txBody>
      </p:sp>
      <p:sp>
        <p:nvSpPr>
          <p:cNvPr id="293" name="Google Shape;293;p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1300"/>
              </a:spcAft>
              <a:buNone/>
            </a:pPr>
            <a:r>
              <a:rPr lang="en-US"/>
              <a:t>All transformer models outperformed the TF-IDF baseline, with RoBERTa and BERTweet demonstrating nearly identical macro performance at 98% F1. However, the nuances became clear when looking at class-specific metrics. RoBERTa achieved 0.992 recall on the suicide class, which would be critical for minimizing false negatives in high-stakes contexts, and BERTweet showed slightly better precision but also slightly lower recall. What's particularly interesting is that despite the noisy subreddit-based labeling strategy, these models achieved clinical-grade performance, suggesting transformers can effectively capture the semantic essence of distress expressions.</a:t>
            </a:r>
            <a:endParaRPr/>
          </a:p>
        </p:txBody>
      </p:sp>
      <p:sp>
        <p:nvSpPr>
          <p:cNvPr id="299" name="Google Shape;299;p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0"/>
              </a:spcAft>
              <a:buNone/>
            </a:pPr>
            <a:r>
              <a:rPr lang="en-US">
                <a:solidFill>
                  <a:schemeClr val="dk1"/>
                </a:solidFill>
              </a:rPr>
              <a:t>This chart shows suicide-class performance for three models — BERT, RoBERTa, and BERTweet — evaluated on a balanced 10K subset after one epoch. I’m highlighting three metrics: precision, recall, and F1 score. </a:t>
            </a:r>
            <a:r>
              <a:rPr b="1" lang="en-US">
                <a:solidFill>
                  <a:schemeClr val="dk1"/>
                </a:solidFill>
              </a:rPr>
              <a:t>RoBERTa stands out</a:t>
            </a:r>
            <a:r>
              <a:rPr lang="en-US">
                <a:solidFill>
                  <a:schemeClr val="dk1"/>
                </a:solidFill>
              </a:rPr>
              <a:t> with the </a:t>
            </a:r>
            <a:r>
              <a:rPr b="1" lang="en-US">
                <a:solidFill>
                  <a:schemeClr val="dk1"/>
                </a:solidFill>
              </a:rPr>
              <a:t>highest recall and F1 score</a:t>
            </a:r>
            <a:r>
              <a:rPr lang="en-US">
                <a:solidFill>
                  <a:schemeClr val="dk1"/>
                </a:solidFill>
              </a:rPr>
              <a:t>, meaning it missed the fewest suicidal posts while maintaining strong overall accuracy. </a:t>
            </a:r>
            <a:endParaRPr>
              <a:solidFill>
                <a:schemeClr val="dk1"/>
              </a:solidFill>
            </a:endParaRPr>
          </a:p>
          <a:p>
            <a:pPr indent="0" lvl="0" marL="0" rtl="0" algn="l">
              <a:lnSpc>
                <a:spcPct val="115000"/>
              </a:lnSpc>
              <a:spcBef>
                <a:spcPts val="1300"/>
              </a:spcBef>
              <a:spcAft>
                <a:spcPts val="0"/>
              </a:spcAft>
              <a:buClr>
                <a:schemeClr val="dk1"/>
              </a:buClr>
              <a:buSzPts val="1100"/>
              <a:buFont typeface="Arial"/>
              <a:buNone/>
            </a:pPr>
            <a:r>
              <a:rPr b="1" lang="en-US">
                <a:solidFill>
                  <a:schemeClr val="dk1"/>
                </a:solidFill>
              </a:rPr>
              <a:t>BERT</a:t>
            </a:r>
            <a:r>
              <a:rPr lang="en-US">
                <a:solidFill>
                  <a:schemeClr val="dk1"/>
                </a:solidFill>
              </a:rPr>
              <a:t>, on the left, shows a notable drop in precision — under 0.94 — and its F1 score also lags behind the others. This suggests it had more false positives and possibly relied on less contextual signals — likely due to its older, less optimized pretraining setup. BERT was trained on BookCorpus and Wikipedia, which don't reflect the tone, structure, or informality of Reddit.</a:t>
            </a:r>
            <a:endParaRPr>
              <a:solidFill>
                <a:schemeClr val="dk1"/>
              </a:solidFill>
            </a:endParaRPr>
          </a:p>
          <a:p>
            <a:pPr indent="0" lvl="0" marL="0" rtl="0" algn="l">
              <a:lnSpc>
                <a:spcPct val="115000"/>
              </a:lnSpc>
              <a:spcBef>
                <a:spcPts val="1300"/>
              </a:spcBef>
              <a:spcAft>
                <a:spcPts val="1300"/>
              </a:spcAft>
              <a:buNone/>
            </a:pPr>
            <a:r>
              <a:rPr b="1" lang="en-US">
                <a:solidFill>
                  <a:schemeClr val="dk1"/>
                </a:solidFill>
              </a:rPr>
              <a:t>BERTweet</a:t>
            </a:r>
            <a:r>
              <a:rPr lang="en-US">
                <a:solidFill>
                  <a:schemeClr val="dk1"/>
                </a:solidFill>
              </a:rPr>
              <a:t> shows a balanced profile — strong precision and slightly lower recall than RoBERTa. Because BERTweet is pretrained on social media data, it’s particularly good at handling emojis, abbreviations, and informal phrasing. But it had slightly more variability in identifying emotionally complex posts. The takeaway here is that </a:t>
            </a:r>
            <a:r>
              <a:rPr b="1" lang="en-US">
                <a:solidFill>
                  <a:schemeClr val="dk1"/>
                </a:solidFill>
              </a:rPr>
              <a:t>RoBERTa offers the best balance</a:t>
            </a:r>
            <a:r>
              <a:rPr lang="en-US">
                <a:solidFill>
                  <a:schemeClr val="dk1"/>
                </a:solidFill>
              </a:rPr>
              <a:t> — especially under constrained training (1 epoch, noisy labels). Its dynamic masking and larger training corpus gave it an edge in generalization, particularly for veiled or indirect expressions of suicidal ideation.</a:t>
            </a:r>
            <a:endParaRPr/>
          </a:p>
        </p:txBody>
      </p:sp>
      <p:sp>
        <p:nvSpPr>
          <p:cNvPr id="305" name="Google Shape;305;p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4cb4fccf56_1_1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These confusion matrices reveal distinct error patterns across architectures. The TF-IDF baseline shows symmetric error distribution—it missed about 6-8% of both classes. BERT showed a high false positive rate and slightly more false negatives, indicating it may rely more on surface-level cues. </a:t>
            </a:r>
            <a:endParaRPr/>
          </a:p>
        </p:txBody>
      </p:sp>
      <p:sp>
        <p:nvSpPr>
          <p:cNvPr id="311" name="Google Shape;311;g34cb4fccf56_1_120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4cb4fccf56_1_1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In contrast, RoBERTa demonstrates asymmetric errors, with notably fewer false negatives in the suicide class. BERTweet exhibits balanced performance but struggles more with informally expressed distress. This asymmetry in error distribution is particularly significant for deployment considerations: RoBERTa would be preferred in contexts where missing suicidal ideation carries higher cost than false alarms.</a:t>
            </a:r>
            <a:endParaRPr>
              <a:solidFill>
                <a:schemeClr val="dk1"/>
              </a:solidFill>
            </a:endParaRPr>
          </a:p>
          <a:p>
            <a:pPr indent="0" lvl="0" marL="0" rtl="0" algn="l">
              <a:spcBef>
                <a:spcPts val="0"/>
              </a:spcBef>
              <a:spcAft>
                <a:spcPts val="0"/>
              </a:spcAft>
              <a:buNone/>
            </a:pPr>
            <a:r>
              <a:t/>
            </a:r>
            <a:endParaRPr/>
          </a:p>
        </p:txBody>
      </p:sp>
      <p:sp>
        <p:nvSpPr>
          <p:cNvPr id="318" name="Google Shape;318;g34cb4fccf56_1_12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4cb4fccf56_1_1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1300"/>
              </a:spcAft>
              <a:buNone/>
            </a:pPr>
            <a:r>
              <a:rPr lang="en-US"/>
              <a:t>When applying SHAP analysis to examine which tokens influenced model decisions, I made a surprising discovery. In high-confidence predictions, SHAP values were essentially zero across all tokens - meaning the model wasn't making decisions based on specific keywords. Even in uncertain cases with probabilities around 50-70%, I couldn't attribute decisions to individual words. This reveals that transformers are using complex patterns across the entire text rather than isolated features. This creates a practical challenge for clinical settings where doctors and moderators need to understand why a post was flagged as concerning.</a:t>
            </a:r>
            <a:endParaRPr/>
          </a:p>
        </p:txBody>
      </p:sp>
      <p:sp>
        <p:nvSpPr>
          <p:cNvPr id="325" name="Google Shape;325;g34cb4fccf56_1_119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4cb89dfc6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1300"/>
              </a:spcAft>
              <a:buNone/>
            </a:pPr>
            <a:r>
              <a:rPr lang="en-US"/>
              <a:t>To complement SHAP's limitations, I visualized the self-attention matrix from BERT's final transformer layer. The diagonal dominance indicates strong self-attention, but the off-diagonal patterns reveal meaningful cross-token relationships. These horizontal and vertical bands with higher intensity suggest that certain tokens, likely emotional markers and connective phrases, influence multiple others. This supports the hypothesis that BERT is modeling inputs holistically and extracting meaning from relational patterns rather than specific keywords, which is a desirable feature.</a:t>
            </a:r>
            <a:endParaRPr/>
          </a:p>
        </p:txBody>
      </p:sp>
      <p:sp>
        <p:nvSpPr>
          <p:cNvPr id="333" name="Google Shape;333;g34cb89dfc62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4cb89dfc6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0"/>
              </a:spcAft>
              <a:buClr>
                <a:schemeClr val="dk1"/>
              </a:buClr>
              <a:buSzPts val="1100"/>
              <a:buFont typeface="Arial"/>
              <a:buNone/>
            </a:pPr>
            <a:r>
              <a:rPr lang="en-US">
                <a:solidFill>
                  <a:schemeClr val="dk1"/>
                </a:solidFill>
              </a:rPr>
              <a:t>My error analysis revealed distinct patterns in model mistakes. False positives typically occurred with posts containing general emotional distress or third-person discussions about suicide - the models overweighted emotional language without recognizing the lack of personal intent. False negatives happened most often with metaphorical expressions or posts describing gradual deterioration without explicit suicidal keywords. These used coded language that models struggled to identify.</a:t>
            </a:r>
            <a:endParaRPr>
              <a:solidFill>
                <a:schemeClr val="dk1"/>
              </a:solidFill>
            </a:endParaRPr>
          </a:p>
          <a:p>
            <a:pPr indent="0" lvl="0" marL="0" rtl="0" algn="l">
              <a:lnSpc>
                <a:spcPct val="115000"/>
              </a:lnSpc>
              <a:spcBef>
                <a:spcPts val="1300"/>
              </a:spcBef>
              <a:spcAft>
                <a:spcPts val="0"/>
              </a:spcAft>
              <a:buClr>
                <a:schemeClr val="dk1"/>
              </a:buClr>
              <a:buSzPts val="1100"/>
              <a:buFont typeface="Arial"/>
              <a:buNone/>
            </a:pPr>
            <a:r>
              <a:rPr lang="en-US">
                <a:solidFill>
                  <a:schemeClr val="dk1"/>
                </a:solidFill>
              </a:rPr>
              <a:t>RoBERTa had significantly fewer false negatives than other models, making it more suitable for scenarios where missing a suicidal post is costlier than false alarms.</a:t>
            </a:r>
            <a:endParaRPr>
              <a:solidFill>
                <a:schemeClr val="dk1"/>
              </a:solidFill>
            </a:endParaRPr>
          </a:p>
          <a:p>
            <a:pPr indent="0" lvl="0" marL="0" rtl="0" algn="l">
              <a:spcBef>
                <a:spcPts val="1300"/>
              </a:spcBef>
              <a:spcAft>
                <a:spcPts val="0"/>
              </a:spcAft>
              <a:buNone/>
            </a:pPr>
            <a:r>
              <a:t/>
            </a:r>
            <a:endParaRPr>
              <a:solidFill>
                <a:schemeClr val="dk1"/>
              </a:solidFill>
            </a:endParaRPr>
          </a:p>
        </p:txBody>
      </p:sp>
      <p:sp>
        <p:nvSpPr>
          <p:cNvPr id="339" name="Google Shape;339;g34cb89dfc62_0_5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4cb89dfc6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The key takeaways are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RoBERTa achieves highest recall for suicide detection (critical for real-world use)</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Transformer models use distributed representations rather than keywords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US">
                <a:solidFill>
                  <a:schemeClr val="dk1"/>
                </a:solidFill>
              </a:rPr>
              <a:t>RoBERTa outperforms other models because of d</a:t>
            </a:r>
            <a:r>
              <a:rPr lang="en-US">
                <a:solidFill>
                  <a:schemeClr val="dk1"/>
                </a:solidFill>
              </a:rPr>
              <a:t>ynamic masking and a larger training corpus which gives it an edge. It is better at capturing subtle emotional signals despite minimal fine-tuning.</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345" name="Google Shape;345;g34cb89dfc62_0_5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0"/>
              </a:spcAft>
              <a:buClr>
                <a:schemeClr val="dk1"/>
              </a:buClr>
              <a:buSzPts val="1100"/>
              <a:buFont typeface="Arial"/>
              <a:buNone/>
            </a:pPr>
            <a:r>
              <a:rPr lang="en-US">
                <a:solidFill>
                  <a:schemeClr val="dk1"/>
                </a:solidFill>
              </a:rPr>
              <a:t>My approach raises several ethical concerns. First, the labeling method (using subreddit origin as a proxy for suicidal content) may inadvertently encode demographic or linguistic biases. This could disproportionately affect specific user groups, particularly younger users or minority populations who express distress differently. Second, the 'black box' nature of these models conflicts with clinical requirements for transparent decision-making. When interventions might be life-critical, this lack of explainability becomes problematic. Additionally, suicidal language evolves rapidly, especially among teens, requiring continuous model updates. These limitations suggest these systems should augment rather than replace human judgment.</a:t>
            </a:r>
            <a:endParaRPr>
              <a:solidFill>
                <a:schemeClr val="dk1"/>
              </a:solidFill>
            </a:endParaRPr>
          </a:p>
          <a:p>
            <a:pPr indent="0" lvl="0" marL="0" rtl="0" algn="l">
              <a:spcBef>
                <a:spcPts val="1300"/>
              </a:spcBef>
              <a:spcAft>
                <a:spcPts val="0"/>
              </a:spcAft>
              <a:buNone/>
            </a:pPr>
            <a:r>
              <a:t/>
            </a:r>
            <a:endParaRPr>
              <a:solidFill>
                <a:schemeClr val="dk1"/>
              </a:solidFill>
            </a:endParaRPr>
          </a:p>
        </p:txBody>
      </p:sp>
      <p:sp>
        <p:nvSpPr>
          <p:cNvPr id="351" name="Google Shape;351;p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While transformer models demonstrate strong performance, several promising research directions could address current limitations. Cross-lingual transfer learning could allow detection across non-English communities. Temporal modeling could capture risk progression over time. Hybrid approaches blending RoBERTa with prompt-based models might balance performance and interpretability. And most importantly, human-in-the-loop systems could leverage clinician feedback for continuous improvement while maintaining ethical safeguards.</a:t>
            </a:r>
            <a:endParaRPr/>
          </a:p>
        </p:txBody>
      </p:sp>
      <p:sp>
        <p:nvSpPr>
          <p:cNvPr id="357" name="Google Shape;357;p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4cb89dfc6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To conclude, transformer models—particularly RoBERTa and BERTweet—demonstrated exceptional performance in detecting subtle expressions of suicidal ideation, outperforming classical approaches and achieving near-clinical reliability despite noisy labeling. However, the interpretability gap I've identified represents a significant challenge for deployment in high-stakes settings. My findings suggest that while transformers offer powerful tools for mental health monitoring, their implementation requires careful consideration of explainability, fairness, and temporal stability. The next frontier lies not in improved accuracy, but in developing systems that maintain performance while offering transparent, actionable insights to clinicians.</a:t>
            </a:r>
            <a:endParaRPr/>
          </a:p>
        </p:txBody>
      </p:sp>
      <p:sp>
        <p:nvSpPr>
          <p:cNvPr id="363" name="Google Shape;363;g34cb89dfc62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3" name="Shape 273"/>
        <p:cNvGrpSpPr/>
        <p:nvPr/>
      </p:nvGrpSpPr>
      <p:grpSpPr>
        <a:xfrm>
          <a:off x="0" y="0"/>
          <a:ext cx="0" cy="0"/>
          <a:chOff x="0" y="0"/>
          <a:chExt cx="0" cy="0"/>
        </a:xfrm>
      </p:grpSpPr>
      <p:sp>
        <p:nvSpPr>
          <p:cNvPr id="274" name="Google Shape;274;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5" name="Google Shape;275;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276" name="Google Shape;276;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hyperlink" Target="https://www.kaggle.com/datasets/nikhileswarkomati/suicide-watch/data"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ctrTitle"/>
          </p:nvPr>
        </p:nvSpPr>
        <p:spPr>
          <a:xfrm>
            <a:off x="1719300" y="1065400"/>
            <a:ext cx="5705400" cy="18729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latin typeface="Calibri"/>
                <a:ea typeface="Calibri"/>
                <a:cs typeface="Calibri"/>
                <a:sym typeface="Calibri"/>
              </a:rPr>
              <a:t>Transformers for Suicidal Ideation Detection in Reddit Posts</a:t>
            </a:r>
            <a:endParaRPr/>
          </a:p>
        </p:txBody>
      </p:sp>
      <p:sp>
        <p:nvSpPr>
          <p:cNvPr id="284" name="Google Shape;284;p14"/>
          <p:cNvSpPr txBox="1"/>
          <p:nvPr>
            <p:ph type="ctrTitle"/>
          </p:nvPr>
        </p:nvSpPr>
        <p:spPr>
          <a:xfrm>
            <a:off x="2352000" y="3317000"/>
            <a:ext cx="4440000" cy="974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0" lang="en-US" sz="2400">
                <a:latin typeface="Calibri"/>
                <a:ea typeface="Calibri"/>
                <a:cs typeface="Calibri"/>
                <a:sym typeface="Calibri"/>
              </a:rPr>
              <a:t>Akshita Gandra</a:t>
            </a:r>
            <a:endParaRPr b="0" sz="2400">
              <a:latin typeface="Calibri"/>
              <a:ea typeface="Calibri"/>
              <a:cs typeface="Calibri"/>
              <a:sym typeface="Calibri"/>
            </a:endParaRPr>
          </a:p>
          <a:p>
            <a:pPr indent="0" lvl="0" marL="0" rtl="0" algn="ctr">
              <a:spcBef>
                <a:spcPts val="0"/>
              </a:spcBef>
              <a:spcAft>
                <a:spcPts val="0"/>
              </a:spcAft>
              <a:buClr>
                <a:schemeClr val="dk1"/>
              </a:buClr>
              <a:buSzPts val="4400"/>
              <a:buFont typeface="Calibri"/>
              <a:buNone/>
            </a:pPr>
            <a:r>
              <a:rPr b="0" lang="en-US" sz="2400">
                <a:latin typeface="Calibri"/>
                <a:ea typeface="Calibri"/>
                <a:cs typeface="Calibri"/>
                <a:sym typeface="Calibri"/>
              </a:rPr>
              <a:t>MIDS W266</a:t>
            </a:r>
            <a:endParaRPr b="0" sz="240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sz="4400">
                <a:latin typeface="Calibri"/>
                <a:ea typeface="Calibri"/>
                <a:cs typeface="Calibri"/>
                <a:sym typeface="Calibri"/>
              </a:rPr>
              <a:t>Motivation &amp; Research Question</a:t>
            </a:r>
            <a:endParaRPr sz="4400">
              <a:latin typeface="Calibri"/>
              <a:ea typeface="Calibri"/>
              <a:cs typeface="Calibri"/>
              <a:sym typeface="Calibri"/>
            </a:endParaRPr>
          </a:p>
        </p:txBody>
      </p:sp>
      <p:sp>
        <p:nvSpPr>
          <p:cNvPr id="290" name="Google Shape;290;p15"/>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1000" lvl="0" marL="342900" rtl="0" algn="l">
              <a:spcBef>
                <a:spcPts val="360"/>
              </a:spcBef>
              <a:spcAft>
                <a:spcPts val="0"/>
              </a:spcAft>
              <a:buSzPts val="2400"/>
              <a:buChar char="●"/>
            </a:pPr>
            <a:r>
              <a:rPr lang="en-US" sz="2400"/>
              <a:t>Suicide: global health crisis affecting 700,000+ annually</a:t>
            </a:r>
            <a:endParaRPr sz="2400"/>
          </a:p>
          <a:p>
            <a:pPr indent="-381000" lvl="0" marL="342900" rtl="0" algn="l">
              <a:spcBef>
                <a:spcPts val="360"/>
              </a:spcBef>
              <a:spcAft>
                <a:spcPts val="0"/>
              </a:spcAft>
              <a:buSzPts val="2400"/>
              <a:buChar char="●"/>
            </a:pPr>
            <a:r>
              <a:rPr lang="en-US" sz="2400"/>
              <a:t>Reddit: anonymous platform for emotional disclosure</a:t>
            </a:r>
            <a:endParaRPr sz="2400"/>
          </a:p>
          <a:p>
            <a:pPr indent="-381000" lvl="0" marL="342900" rtl="0" algn="l">
              <a:spcBef>
                <a:spcPts val="360"/>
              </a:spcBef>
              <a:spcAft>
                <a:spcPts val="0"/>
              </a:spcAft>
              <a:buSzPts val="2400"/>
              <a:buChar char="●"/>
            </a:pPr>
            <a:r>
              <a:rPr b="1" lang="en-US" sz="2400"/>
              <a:t>Research Question: </a:t>
            </a:r>
            <a:r>
              <a:rPr lang="en-US" sz="2400"/>
              <a:t>Can transformers effectively detect indirect, metaphorical, or sarcastic expressions of suicidal ideation?</a:t>
            </a:r>
            <a:endParaRPr sz="2400"/>
          </a:p>
          <a:p>
            <a:pPr indent="-381000" lvl="0" marL="342900" rtl="0" algn="l">
              <a:spcBef>
                <a:spcPts val="360"/>
              </a:spcBef>
              <a:spcAft>
                <a:spcPts val="0"/>
              </a:spcAft>
              <a:buSzPts val="2400"/>
              <a:buChar char="●"/>
            </a:pPr>
            <a:r>
              <a:rPr lang="en-US" sz="2400"/>
              <a:t>Beyond accuracy: interpretability, fairness, and clinical utility</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Dataset &amp; Methodology</a:t>
            </a:r>
            <a:endParaRPr/>
          </a:p>
        </p:txBody>
      </p:sp>
      <p:sp>
        <p:nvSpPr>
          <p:cNvPr id="296" name="Google Shape;296;p16"/>
          <p:cNvSpPr txBox="1"/>
          <p:nvPr>
            <p:ph idx="1" type="body"/>
          </p:nvPr>
        </p:nvSpPr>
        <p:spPr>
          <a:xfrm>
            <a:off x="457200" y="1200150"/>
            <a:ext cx="8229600" cy="3699900"/>
          </a:xfrm>
          <a:prstGeom prst="rect">
            <a:avLst/>
          </a:prstGeom>
          <a:noFill/>
          <a:ln>
            <a:noFill/>
          </a:ln>
        </p:spPr>
        <p:txBody>
          <a:bodyPr anchorCtr="0" anchor="t" bIns="45700" lIns="91425" spcFirstLastPara="1" rIns="91425" wrap="square" tIns="45700">
            <a:normAutofit lnSpcReduction="20000"/>
          </a:bodyPr>
          <a:lstStyle/>
          <a:p>
            <a:pPr indent="-381000" lvl="0" marL="457200" rtl="0" algn="l">
              <a:spcBef>
                <a:spcPts val="1300"/>
              </a:spcBef>
              <a:spcAft>
                <a:spcPts val="0"/>
              </a:spcAft>
              <a:buSzPts val="2400"/>
              <a:buFont typeface="Calibri"/>
              <a:buChar char="●"/>
            </a:pPr>
            <a:r>
              <a:rPr lang="en-US" sz="2400">
                <a:latin typeface="Calibri"/>
                <a:ea typeface="Calibri"/>
                <a:cs typeface="Calibri"/>
                <a:sym typeface="Calibri"/>
              </a:rPr>
              <a:t>232,000+ posts from r/SuicideWatch, r/depression, r/teenagers (</a:t>
            </a:r>
            <a:r>
              <a:rPr lang="en-US" sz="2400" u="sng">
                <a:solidFill>
                  <a:schemeClr val="hlink"/>
                </a:solidFill>
                <a:latin typeface="Calibri"/>
                <a:ea typeface="Calibri"/>
                <a:cs typeface="Calibri"/>
                <a:sym typeface="Calibri"/>
                <a:hlinkClick r:id="rId3"/>
              </a:rPr>
              <a:t>https://www.kaggle.com/datasets/nikhileswarkomati/suicide-watch/data</a:t>
            </a:r>
            <a:r>
              <a:rPr lang="en-US" sz="2400">
                <a:latin typeface="Calibri"/>
                <a:ea typeface="Calibri"/>
                <a:cs typeface="Calibri"/>
                <a:sym typeface="Calibri"/>
              </a:rPr>
              <a:t>)</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Models trained:</a:t>
            </a:r>
            <a:endParaRPr sz="2400">
              <a:latin typeface="Calibri"/>
              <a:ea typeface="Calibri"/>
              <a:cs typeface="Calibri"/>
              <a:sym typeface="Calibri"/>
            </a:endParaRPr>
          </a:p>
          <a:p>
            <a:pPr indent="-381000" lvl="1" marL="914400" rtl="0" algn="l">
              <a:spcBef>
                <a:spcPts val="0"/>
              </a:spcBef>
              <a:spcAft>
                <a:spcPts val="0"/>
              </a:spcAft>
              <a:buSzPts val="2400"/>
              <a:buFont typeface="Calibri"/>
              <a:buChar char="○"/>
            </a:pPr>
            <a:r>
              <a:rPr lang="en-US" sz="2400">
                <a:latin typeface="Calibri"/>
                <a:ea typeface="Calibri"/>
                <a:cs typeface="Calibri"/>
                <a:sym typeface="Calibri"/>
              </a:rPr>
              <a:t>TF-IDF + Logistic Regression (baseline)</a:t>
            </a:r>
            <a:endParaRPr sz="2400">
              <a:latin typeface="Calibri"/>
              <a:ea typeface="Calibri"/>
              <a:cs typeface="Calibri"/>
              <a:sym typeface="Calibri"/>
            </a:endParaRPr>
          </a:p>
          <a:p>
            <a:pPr indent="-381000" lvl="1" marL="914400" rtl="0" algn="l">
              <a:spcBef>
                <a:spcPts val="0"/>
              </a:spcBef>
              <a:spcAft>
                <a:spcPts val="0"/>
              </a:spcAft>
              <a:buSzPts val="2400"/>
              <a:buFont typeface="Calibri"/>
              <a:buChar char="○"/>
            </a:pPr>
            <a:r>
              <a:rPr lang="en-US" sz="2400">
                <a:latin typeface="Calibri"/>
                <a:ea typeface="Calibri"/>
                <a:cs typeface="Calibri"/>
                <a:sym typeface="Calibri"/>
              </a:rPr>
              <a:t>BERT, RoBERTa, BERTweet</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Balanced dataset: 50/50 suicide vs. non-suicide</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Implementation: HuggingFace Transformers, PyTorch Trainer</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Explainability: SHAP analysis, attention visualization</a:t>
            </a:r>
            <a:endParaRPr sz="24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sz="4400">
                <a:latin typeface="Calibri"/>
                <a:ea typeface="Calibri"/>
                <a:cs typeface="Calibri"/>
                <a:sym typeface="Calibri"/>
              </a:rPr>
              <a:t>Results: Performance Metrics</a:t>
            </a:r>
            <a:endParaRPr sz="4400">
              <a:latin typeface="Calibri"/>
              <a:ea typeface="Calibri"/>
              <a:cs typeface="Calibri"/>
              <a:sym typeface="Calibri"/>
            </a:endParaRPr>
          </a:p>
        </p:txBody>
      </p:sp>
      <p:pic>
        <p:nvPicPr>
          <p:cNvPr id="302" name="Google Shape;302;p17" title="Screenshot 2025-04-15 at 2.56.57 PM.png"/>
          <p:cNvPicPr preferRelativeResize="0"/>
          <p:nvPr/>
        </p:nvPicPr>
        <p:blipFill>
          <a:blip r:embed="rId3">
            <a:alphaModFix/>
          </a:blip>
          <a:stretch>
            <a:fillRect/>
          </a:stretch>
        </p:blipFill>
        <p:spPr>
          <a:xfrm>
            <a:off x="0" y="1267405"/>
            <a:ext cx="9144001" cy="260869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title"/>
          </p:nvPr>
        </p:nvSpPr>
        <p:spPr>
          <a:xfrm>
            <a:off x="1173450" y="144600"/>
            <a:ext cx="6797100" cy="1111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3600">
                <a:latin typeface="Calibri"/>
                <a:ea typeface="Calibri"/>
                <a:cs typeface="Calibri"/>
                <a:sym typeface="Calibri"/>
              </a:rPr>
              <a:t>RoBERTa Outperforms Baselines</a:t>
            </a:r>
            <a:endParaRPr sz="3600"/>
          </a:p>
        </p:txBody>
      </p:sp>
      <p:pic>
        <p:nvPicPr>
          <p:cNvPr descr="model performance.png" id="308" name="Google Shape;308;p18"/>
          <p:cNvPicPr preferRelativeResize="0"/>
          <p:nvPr/>
        </p:nvPicPr>
        <p:blipFill rotWithShape="1">
          <a:blip r:embed="rId3">
            <a:alphaModFix/>
          </a:blip>
          <a:srcRect b="0" l="0" r="0" t="0"/>
          <a:stretch/>
        </p:blipFill>
        <p:spPr>
          <a:xfrm>
            <a:off x="1828800" y="1341325"/>
            <a:ext cx="5486400" cy="335668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9"/>
          <p:cNvSpPr txBox="1"/>
          <p:nvPr>
            <p:ph type="title"/>
          </p:nvPr>
        </p:nvSpPr>
        <p:spPr>
          <a:xfrm>
            <a:off x="852975" y="127875"/>
            <a:ext cx="7438200" cy="1181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400">
                <a:latin typeface="Calibri"/>
                <a:ea typeface="Calibri"/>
                <a:cs typeface="Calibri"/>
                <a:sym typeface="Calibri"/>
              </a:rPr>
              <a:t>Confusion Matrix Analysis (1)</a:t>
            </a:r>
            <a:endParaRPr sz="4400">
              <a:latin typeface="Calibri"/>
              <a:ea typeface="Calibri"/>
              <a:cs typeface="Calibri"/>
              <a:sym typeface="Calibri"/>
            </a:endParaRPr>
          </a:p>
        </p:txBody>
      </p:sp>
      <p:pic>
        <p:nvPicPr>
          <p:cNvPr descr="TFIDF confusion matrix.png" id="314" name="Google Shape;314;p19"/>
          <p:cNvPicPr preferRelativeResize="0"/>
          <p:nvPr/>
        </p:nvPicPr>
        <p:blipFill rotWithShape="1">
          <a:blip r:embed="rId3">
            <a:alphaModFix/>
          </a:blip>
          <a:srcRect b="0" l="0" r="0" t="0"/>
          <a:stretch/>
        </p:blipFill>
        <p:spPr>
          <a:xfrm>
            <a:off x="852965" y="1309575"/>
            <a:ext cx="3384060" cy="2779500"/>
          </a:xfrm>
          <a:prstGeom prst="rect">
            <a:avLst/>
          </a:prstGeom>
          <a:noFill/>
          <a:ln>
            <a:noFill/>
          </a:ln>
        </p:spPr>
      </p:pic>
      <p:pic>
        <p:nvPicPr>
          <p:cNvPr descr="matrix3.png" id="315" name="Google Shape;315;p19"/>
          <p:cNvPicPr preferRelativeResize="0"/>
          <p:nvPr/>
        </p:nvPicPr>
        <p:blipFill rotWithShape="1">
          <a:blip r:embed="rId4">
            <a:alphaModFix/>
          </a:blip>
          <a:srcRect b="0" l="0" r="0" t="0"/>
          <a:stretch/>
        </p:blipFill>
        <p:spPr>
          <a:xfrm>
            <a:off x="4998550" y="1309575"/>
            <a:ext cx="3292624" cy="277950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0"/>
          <p:cNvSpPr txBox="1"/>
          <p:nvPr>
            <p:ph type="title"/>
          </p:nvPr>
        </p:nvSpPr>
        <p:spPr>
          <a:xfrm>
            <a:off x="996900" y="277525"/>
            <a:ext cx="7150200" cy="816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sz="4400">
                <a:latin typeface="Calibri"/>
                <a:ea typeface="Calibri"/>
                <a:cs typeface="Calibri"/>
                <a:sym typeface="Calibri"/>
              </a:rPr>
              <a:t>Confusion Matrix Analysis (2)</a:t>
            </a:r>
            <a:endParaRPr sz="3600">
              <a:latin typeface="Calibri"/>
              <a:ea typeface="Calibri"/>
              <a:cs typeface="Calibri"/>
              <a:sym typeface="Calibri"/>
            </a:endParaRPr>
          </a:p>
        </p:txBody>
      </p:sp>
      <p:pic>
        <p:nvPicPr>
          <p:cNvPr descr="matrix2.png" id="321" name="Google Shape;321;p20"/>
          <p:cNvPicPr preferRelativeResize="0"/>
          <p:nvPr/>
        </p:nvPicPr>
        <p:blipFill rotWithShape="1">
          <a:blip r:embed="rId3">
            <a:alphaModFix/>
          </a:blip>
          <a:srcRect b="0" l="0" r="0" t="0"/>
          <a:stretch/>
        </p:blipFill>
        <p:spPr>
          <a:xfrm>
            <a:off x="901550" y="1330670"/>
            <a:ext cx="3352500" cy="2830056"/>
          </a:xfrm>
          <a:prstGeom prst="rect">
            <a:avLst/>
          </a:prstGeom>
          <a:noFill/>
          <a:ln>
            <a:noFill/>
          </a:ln>
        </p:spPr>
      </p:pic>
      <p:pic>
        <p:nvPicPr>
          <p:cNvPr descr="matrix1.png" id="322" name="Google Shape;322;p20"/>
          <p:cNvPicPr preferRelativeResize="0"/>
          <p:nvPr/>
        </p:nvPicPr>
        <p:blipFill rotWithShape="1">
          <a:blip r:embed="rId4">
            <a:alphaModFix/>
          </a:blip>
          <a:srcRect b="0" l="0" r="0" t="0"/>
          <a:stretch/>
        </p:blipFill>
        <p:spPr>
          <a:xfrm>
            <a:off x="4757675" y="1330665"/>
            <a:ext cx="3352503" cy="2830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1"/>
          <p:cNvSpPr txBox="1"/>
          <p:nvPr>
            <p:ph type="title"/>
          </p:nvPr>
        </p:nvSpPr>
        <p:spPr>
          <a:xfrm>
            <a:off x="1173450" y="293750"/>
            <a:ext cx="6797100" cy="816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400">
                <a:latin typeface="Calibri"/>
                <a:ea typeface="Calibri"/>
                <a:cs typeface="Calibri"/>
                <a:sym typeface="Calibri"/>
              </a:rPr>
              <a:t>SHAP Analysis</a:t>
            </a:r>
            <a:endParaRPr sz="4400">
              <a:latin typeface="Calibri"/>
              <a:ea typeface="Calibri"/>
              <a:cs typeface="Calibri"/>
              <a:sym typeface="Calibri"/>
            </a:endParaRPr>
          </a:p>
        </p:txBody>
      </p:sp>
      <p:pic>
        <p:nvPicPr>
          <p:cNvPr id="328" name="Google Shape;328;p21" title="shap2.png"/>
          <p:cNvPicPr preferRelativeResize="0"/>
          <p:nvPr/>
        </p:nvPicPr>
        <p:blipFill>
          <a:blip r:embed="rId3">
            <a:alphaModFix/>
          </a:blip>
          <a:stretch>
            <a:fillRect/>
          </a:stretch>
        </p:blipFill>
        <p:spPr>
          <a:xfrm>
            <a:off x="989745" y="1199354"/>
            <a:ext cx="3101788" cy="1229050"/>
          </a:xfrm>
          <a:prstGeom prst="rect">
            <a:avLst/>
          </a:prstGeom>
          <a:noFill/>
          <a:ln>
            <a:noFill/>
          </a:ln>
        </p:spPr>
      </p:pic>
      <p:pic>
        <p:nvPicPr>
          <p:cNvPr id="329" name="Google Shape;329;p21" title="shap3.png"/>
          <p:cNvPicPr preferRelativeResize="0"/>
          <p:nvPr/>
        </p:nvPicPr>
        <p:blipFill>
          <a:blip r:embed="rId4">
            <a:alphaModFix/>
          </a:blip>
          <a:stretch>
            <a:fillRect/>
          </a:stretch>
        </p:blipFill>
        <p:spPr>
          <a:xfrm>
            <a:off x="4992400" y="1653650"/>
            <a:ext cx="3551850" cy="2239126"/>
          </a:xfrm>
          <a:prstGeom prst="rect">
            <a:avLst/>
          </a:prstGeom>
          <a:noFill/>
          <a:ln>
            <a:noFill/>
          </a:ln>
        </p:spPr>
      </p:pic>
      <p:pic>
        <p:nvPicPr>
          <p:cNvPr id="330" name="Google Shape;330;p21" title="shap4.png"/>
          <p:cNvPicPr preferRelativeResize="0"/>
          <p:nvPr/>
        </p:nvPicPr>
        <p:blipFill>
          <a:blip r:embed="rId5">
            <a:alphaModFix/>
          </a:blip>
          <a:stretch>
            <a:fillRect/>
          </a:stretch>
        </p:blipFill>
        <p:spPr>
          <a:xfrm>
            <a:off x="1179513" y="2804325"/>
            <a:ext cx="2722241" cy="2030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2"/>
          <p:cNvSpPr txBox="1"/>
          <p:nvPr>
            <p:ph type="title"/>
          </p:nvPr>
        </p:nvSpPr>
        <p:spPr>
          <a:xfrm>
            <a:off x="1173450" y="439800"/>
            <a:ext cx="6797100" cy="816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400">
                <a:latin typeface="Calibri"/>
                <a:ea typeface="Calibri"/>
                <a:cs typeface="Calibri"/>
                <a:sym typeface="Calibri"/>
              </a:rPr>
              <a:t>Attention Patterns &amp; </a:t>
            </a:r>
            <a:endParaRPr sz="4400">
              <a:latin typeface="Calibri"/>
              <a:ea typeface="Calibri"/>
              <a:cs typeface="Calibri"/>
              <a:sym typeface="Calibri"/>
            </a:endParaRPr>
          </a:p>
          <a:p>
            <a:pPr indent="0" lvl="0" marL="0" rtl="0" algn="ctr">
              <a:spcBef>
                <a:spcPts val="0"/>
              </a:spcBef>
              <a:spcAft>
                <a:spcPts val="0"/>
              </a:spcAft>
              <a:buNone/>
            </a:pPr>
            <a:r>
              <a:rPr lang="en-US" sz="4400">
                <a:latin typeface="Calibri"/>
                <a:ea typeface="Calibri"/>
                <a:cs typeface="Calibri"/>
                <a:sym typeface="Calibri"/>
              </a:rPr>
              <a:t>Global Features</a:t>
            </a:r>
            <a:endParaRPr sz="4400">
              <a:latin typeface="Calibri"/>
              <a:ea typeface="Calibri"/>
              <a:cs typeface="Calibri"/>
              <a:sym typeface="Calibri"/>
            </a:endParaRPr>
          </a:p>
        </p:txBody>
      </p:sp>
      <p:pic>
        <p:nvPicPr>
          <p:cNvPr descr="heatmap.png" id="336" name="Google Shape;336;p22"/>
          <p:cNvPicPr preferRelativeResize="0"/>
          <p:nvPr/>
        </p:nvPicPr>
        <p:blipFill rotWithShape="1">
          <a:blip r:embed="rId3">
            <a:alphaModFix/>
          </a:blip>
          <a:srcRect b="0" l="0" r="0" t="0"/>
          <a:stretch/>
        </p:blipFill>
        <p:spPr>
          <a:xfrm>
            <a:off x="2758200" y="1737150"/>
            <a:ext cx="3627600" cy="30781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Misclassification</a:t>
            </a:r>
            <a:endParaRPr/>
          </a:p>
        </p:txBody>
      </p:sp>
      <p:sp>
        <p:nvSpPr>
          <p:cNvPr id="342" name="Google Shape;342;p2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1000" lvl="0" marL="342900" rtl="0" algn="l">
              <a:spcBef>
                <a:spcPts val="360"/>
              </a:spcBef>
              <a:spcAft>
                <a:spcPts val="0"/>
              </a:spcAft>
              <a:buSzPts val="2400"/>
              <a:buChar char="●"/>
            </a:pPr>
            <a:r>
              <a:rPr b="1" lang="en-US" sz="2400"/>
              <a:t>False Positives: </a:t>
            </a:r>
            <a:r>
              <a:rPr lang="en-US" sz="2400"/>
              <a:t>General distress without suicidal intent</a:t>
            </a:r>
            <a:endParaRPr sz="2400"/>
          </a:p>
          <a:p>
            <a:pPr indent="-381000" lvl="0" marL="342900" rtl="0" algn="l">
              <a:spcBef>
                <a:spcPts val="1200"/>
              </a:spcBef>
              <a:spcAft>
                <a:spcPts val="0"/>
              </a:spcAft>
              <a:buSzPts val="2400"/>
              <a:buChar char="●"/>
            </a:pPr>
            <a:r>
              <a:rPr b="1" lang="en-US" sz="2400"/>
              <a:t>False Negatives:</a:t>
            </a:r>
            <a:r>
              <a:rPr lang="en-US" sz="2400"/>
              <a:t> Metaphorical expressions and subtle deterioration</a:t>
            </a:r>
            <a:endParaRPr sz="2400"/>
          </a:p>
          <a:p>
            <a:pPr indent="-381000" lvl="0" marL="342900" rtl="0" algn="l">
              <a:spcBef>
                <a:spcPts val="1200"/>
              </a:spcBef>
              <a:spcAft>
                <a:spcPts val="0"/>
              </a:spcAft>
              <a:buSzPts val="2400"/>
              <a:buChar char="●"/>
            </a:pPr>
            <a:r>
              <a:rPr b="1" lang="en-US" sz="2400"/>
              <a:t>Implications:</a:t>
            </a:r>
            <a:r>
              <a:rPr lang="en-US" sz="2400"/>
              <a:t> Error patterns reveal model limitations</a:t>
            </a:r>
            <a:endParaRPr sz="2400"/>
          </a:p>
          <a:p>
            <a:pPr indent="-381000" lvl="0" marL="342900" rtl="0" algn="l">
              <a:spcBef>
                <a:spcPts val="1200"/>
              </a:spcBef>
              <a:spcAft>
                <a:spcPts val="1200"/>
              </a:spcAft>
              <a:buSzPts val="2400"/>
              <a:buChar char="●"/>
            </a:pPr>
            <a:r>
              <a:rPr b="1" lang="en-US" sz="2400"/>
              <a:t>Model Differences: </a:t>
            </a:r>
            <a:r>
              <a:rPr lang="en-US" sz="2400"/>
              <a:t>RoBERTa more resistant to false negatives</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Key Takeaways</a:t>
            </a:r>
            <a:endParaRPr/>
          </a:p>
        </p:txBody>
      </p:sp>
      <p:sp>
        <p:nvSpPr>
          <p:cNvPr id="348" name="Google Shape;348;p24"/>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55600" lvl="0" marL="342900" rtl="0" algn="l">
              <a:spcBef>
                <a:spcPts val="360"/>
              </a:spcBef>
              <a:spcAft>
                <a:spcPts val="0"/>
              </a:spcAft>
              <a:buSzPts val="2000"/>
              <a:buChar char="●"/>
            </a:pPr>
            <a:r>
              <a:rPr lang="en-US" sz="2000"/>
              <a:t>RoBERTa consistently outperforms other models for suicide detection, especially in minimizing false negatives (critical for real-world deployment)</a:t>
            </a:r>
            <a:endParaRPr sz="2000"/>
          </a:p>
          <a:p>
            <a:pPr indent="-355600" lvl="0" marL="342900" rtl="0" algn="l">
              <a:spcBef>
                <a:spcPts val="360"/>
              </a:spcBef>
              <a:spcAft>
                <a:spcPts val="0"/>
              </a:spcAft>
              <a:buSzPts val="2000"/>
              <a:buChar char="●"/>
            </a:pPr>
            <a:r>
              <a:rPr lang="en-US" sz="2000"/>
              <a:t>Transformer models achieve near-clinical reliability (98% F1) despite noisy labeling; e</a:t>
            </a:r>
            <a:r>
              <a:rPr lang="en-US" sz="2000"/>
              <a:t>thical deployment requires balancing accuracy with interpretability and fairness</a:t>
            </a:r>
            <a:endParaRPr sz="2000"/>
          </a:p>
          <a:p>
            <a:pPr indent="-355600" lvl="0" marL="342900" rtl="0" algn="l">
              <a:spcBef>
                <a:spcPts val="360"/>
              </a:spcBef>
              <a:spcAft>
                <a:spcPts val="0"/>
              </a:spcAft>
              <a:buSzPts val="2000"/>
              <a:buChar char="●"/>
            </a:pPr>
            <a:r>
              <a:rPr lang="en-US" sz="2000"/>
              <a:t>SHAP analysis reveals limitations in token-level interpretability for transformer models</a:t>
            </a:r>
            <a:endParaRPr sz="2000"/>
          </a:p>
          <a:p>
            <a:pPr indent="-355600" lvl="0" marL="342900" rtl="0" algn="l">
              <a:spcBef>
                <a:spcPts val="360"/>
              </a:spcBef>
              <a:spcAft>
                <a:spcPts val="0"/>
              </a:spcAft>
              <a:buSzPts val="2000"/>
              <a:buChar char="●"/>
            </a:pPr>
            <a:r>
              <a:rPr lang="en-US" sz="2000"/>
              <a:t>Global attention patterns suggest models rely on distributed representations rather than isolated keywords</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Ethical Limitations</a:t>
            </a:r>
            <a:endParaRPr/>
          </a:p>
        </p:txBody>
      </p:sp>
      <p:sp>
        <p:nvSpPr>
          <p:cNvPr id="354" name="Google Shape;354;p25"/>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1000" lvl="0" marL="342900" rtl="0" algn="l">
              <a:spcBef>
                <a:spcPts val="360"/>
              </a:spcBef>
              <a:spcAft>
                <a:spcPts val="0"/>
              </a:spcAft>
              <a:buSzPts val="2400"/>
              <a:buChar char="●"/>
            </a:pPr>
            <a:r>
              <a:rPr b="1" lang="en-US" sz="2400"/>
              <a:t>Bias &amp; Fairness: </a:t>
            </a:r>
            <a:r>
              <a:rPr lang="en-US" sz="2400"/>
              <a:t>Demographic disparities in model performance</a:t>
            </a:r>
            <a:endParaRPr sz="2400"/>
          </a:p>
          <a:p>
            <a:pPr indent="-381000" lvl="0" marL="342900" rtl="0" algn="l">
              <a:spcBef>
                <a:spcPts val="360"/>
              </a:spcBef>
              <a:spcAft>
                <a:spcPts val="0"/>
              </a:spcAft>
              <a:buSzPts val="2400"/>
              <a:buChar char="●"/>
            </a:pPr>
            <a:r>
              <a:rPr b="1" lang="en-US" sz="2400"/>
              <a:t>Interpretability: </a:t>
            </a:r>
            <a:r>
              <a:rPr lang="en-US" sz="2400"/>
              <a:t>Gap between clinical needs and model transparency</a:t>
            </a:r>
            <a:endParaRPr sz="2400"/>
          </a:p>
          <a:p>
            <a:pPr indent="-381000" lvl="0" marL="342900" rtl="0" algn="l">
              <a:spcBef>
                <a:spcPts val="360"/>
              </a:spcBef>
              <a:spcAft>
                <a:spcPts val="0"/>
              </a:spcAft>
              <a:buSzPts val="2400"/>
              <a:buChar char="●"/>
            </a:pPr>
            <a:r>
              <a:rPr b="1" lang="en-US" sz="2400"/>
              <a:t>Real-time &amp; Longitudinal: </a:t>
            </a:r>
            <a:r>
              <a:rPr lang="en-US" sz="2400"/>
              <a:t>Content drift and evolving expressions</a:t>
            </a:r>
            <a:endParaRPr sz="2400"/>
          </a:p>
          <a:p>
            <a:pPr indent="-381000" lvl="0" marL="342900" rtl="0" algn="l">
              <a:spcBef>
                <a:spcPts val="360"/>
              </a:spcBef>
              <a:spcAft>
                <a:spcPts val="0"/>
              </a:spcAft>
              <a:buSzPts val="2400"/>
              <a:buChar char="●"/>
            </a:pPr>
            <a:r>
              <a:rPr b="1" lang="en-US" sz="2400"/>
              <a:t>Deployment Constraints: </a:t>
            </a:r>
            <a:r>
              <a:rPr lang="en-US" sz="2400"/>
              <a:t>Integration with human moderation</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Future Directions</a:t>
            </a:r>
            <a:endParaRPr/>
          </a:p>
        </p:txBody>
      </p:sp>
      <p:sp>
        <p:nvSpPr>
          <p:cNvPr id="360" name="Google Shape;360;p26"/>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p>
            <a:pPr indent="-381000" lvl="0" marL="342900" rtl="0" algn="l">
              <a:spcBef>
                <a:spcPts val="360"/>
              </a:spcBef>
              <a:spcAft>
                <a:spcPts val="0"/>
              </a:spcAft>
              <a:buSzPts val="2400"/>
              <a:buChar char="●"/>
            </a:pPr>
            <a:r>
              <a:rPr lang="en-US" sz="2400"/>
              <a:t>Multilingual &amp; Cross-Cultural Adaptation</a:t>
            </a:r>
            <a:endParaRPr sz="2400"/>
          </a:p>
          <a:p>
            <a:pPr indent="-381000" lvl="0" marL="342900" rtl="0" algn="l">
              <a:spcBef>
                <a:spcPts val="360"/>
              </a:spcBef>
              <a:spcAft>
                <a:spcPts val="0"/>
              </a:spcAft>
              <a:buSzPts val="2400"/>
              <a:buChar char="●"/>
            </a:pPr>
            <a:r>
              <a:rPr lang="en-US" sz="2400"/>
              <a:t>Temporal &amp; Behavioral Modeling</a:t>
            </a:r>
            <a:endParaRPr sz="2400"/>
          </a:p>
          <a:p>
            <a:pPr indent="-381000" lvl="0" marL="342900" rtl="0" algn="l">
              <a:spcBef>
                <a:spcPts val="360"/>
              </a:spcBef>
              <a:spcAft>
                <a:spcPts val="0"/>
              </a:spcAft>
              <a:buSzPts val="2400"/>
              <a:buChar char="●"/>
            </a:pPr>
            <a:r>
              <a:rPr lang="en-US" sz="2400"/>
              <a:t>Hybrid Interpretability with Prompt-Based Models</a:t>
            </a:r>
            <a:endParaRPr sz="2400"/>
          </a:p>
          <a:p>
            <a:pPr indent="-381000" lvl="0" marL="342900" rtl="0" algn="l">
              <a:spcBef>
                <a:spcPts val="360"/>
              </a:spcBef>
              <a:spcAft>
                <a:spcPts val="0"/>
              </a:spcAft>
              <a:buSzPts val="2400"/>
              <a:buChar char="●"/>
            </a:pPr>
            <a:r>
              <a:rPr lang="en-US" sz="2400"/>
              <a:t>Human-in-the-Loop Systems</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7"/>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Conclusion</a:t>
            </a:r>
            <a:endParaRPr/>
          </a:p>
        </p:txBody>
      </p:sp>
      <p:sp>
        <p:nvSpPr>
          <p:cNvPr id="366" name="Google Shape;366;p27"/>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p>
            <a:pPr indent="-381000" lvl="0" marL="342900" rtl="0" algn="l">
              <a:spcBef>
                <a:spcPts val="360"/>
              </a:spcBef>
              <a:spcAft>
                <a:spcPts val="0"/>
              </a:spcAft>
              <a:buSzPts val="2400"/>
              <a:buChar char="●"/>
            </a:pPr>
            <a:r>
              <a:rPr b="1" lang="en-US" sz="2400"/>
              <a:t>RoBERTa &amp; BERTweet: </a:t>
            </a:r>
            <a:r>
              <a:rPr lang="en-US" sz="2400"/>
              <a:t>Superior performance for detecting subtle expressions</a:t>
            </a:r>
            <a:endParaRPr sz="2400"/>
          </a:p>
          <a:p>
            <a:pPr indent="-381000" lvl="0" marL="342900" rtl="0" algn="l">
              <a:spcBef>
                <a:spcPts val="360"/>
              </a:spcBef>
              <a:spcAft>
                <a:spcPts val="0"/>
              </a:spcAft>
              <a:buSzPts val="2400"/>
              <a:buChar char="●"/>
            </a:pPr>
            <a:r>
              <a:rPr b="1" lang="en-US" sz="2400"/>
              <a:t>Interpretability Gap: </a:t>
            </a:r>
            <a:r>
              <a:rPr lang="en-US" sz="2400"/>
              <a:t>Critical challenge for clinical trust</a:t>
            </a:r>
            <a:endParaRPr sz="2400"/>
          </a:p>
          <a:p>
            <a:pPr indent="-381000" lvl="0" marL="342900" rtl="0" algn="l">
              <a:spcBef>
                <a:spcPts val="360"/>
              </a:spcBef>
              <a:spcAft>
                <a:spcPts val="0"/>
              </a:spcAft>
              <a:buSzPts val="2400"/>
              <a:buChar char="●"/>
            </a:pPr>
            <a:r>
              <a:rPr b="1" lang="en-US" sz="2400"/>
              <a:t>Beyond Classification: </a:t>
            </a:r>
            <a:r>
              <a:rPr lang="en-US" sz="2400"/>
              <a:t>Need for explainable, fair, and longitudinally stable systems</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8"/>
          <p:cNvSpPr txBox="1"/>
          <p:nvPr>
            <p:ph type="title"/>
          </p:nvPr>
        </p:nvSpPr>
        <p:spPr>
          <a:xfrm>
            <a:off x="1388550" y="1640100"/>
            <a:ext cx="6366900" cy="18633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